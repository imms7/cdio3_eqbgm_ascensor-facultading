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5" r:id="rId2"/>
    <p:sldId id="266" r:id="rId3"/>
    <p:sldId id="259" r:id="rId4"/>
    <p:sldId id="263" r:id="rId5"/>
  </p:sldIdLst>
  <p:sldSz cx="9144000" cy="6858000" type="letter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F0E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530" y="4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298589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973069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4460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5760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041113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17923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408436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889193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8810238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921272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9370230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3A2A95-6BFB-42CF-BBDE-3EDB510641D8}" type="datetimeFigureOut">
              <a:rPr lang="es-CO" smtClean="0"/>
              <a:t>1/03/2026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C8089-EB4C-48AC-A650-A5571700C39E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88987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decoascensor.com/cual-es-la-capacidad-maxima-de-personas-en-un-ascensor/" TargetMode="External"/><Relationship Id="rId2" Type="http://schemas.openxmlformats.org/officeDocument/2006/relationships/hyperlink" Target="https://dictator.es/noticias-elevacion/capacidad-de-carga-de-un-ascensor-para-vivienda-unifamiliar-cual-debe-ser" TargetMode="Externa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www.elespectador.com/economia/finanzas-personales/cuando-es-obligatorio-tener-ascensor-en-un-edificio-para-vivienda-noticias-colombia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5F08A3-C725-C54C-1559-E1E22C344F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0B176B3-B6E0-9C7B-B923-36DE329D3DAB}"/>
              </a:ext>
            </a:extLst>
          </p:cNvPr>
          <p:cNvSpPr/>
          <p:nvPr/>
        </p:nvSpPr>
        <p:spPr>
          <a:xfrm>
            <a:off x="2547857" y="1855014"/>
            <a:ext cx="3846060" cy="257479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Transportar de forma segura, accesible y vertical a personas (incluyendo personas con discapacidad) entre el piso 2 y el piso 4 del edificio de la Facultad de Ingeniería de la Universidad del Quindío</a:t>
            </a:r>
            <a:endParaRPr lang="es-CO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EF1E7BB5-0462-8F07-9218-84DC9D2F0ACF}"/>
              </a:ext>
            </a:extLst>
          </p:cNvPr>
          <p:cNvCxnSpPr>
            <a:cxnSpLocks/>
          </p:cNvCxnSpPr>
          <p:nvPr/>
        </p:nvCxnSpPr>
        <p:spPr>
          <a:xfrm>
            <a:off x="1176876" y="3438448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25BBAB05-4C27-42A0-9D74-4DB16875D240}"/>
              </a:ext>
            </a:extLst>
          </p:cNvPr>
          <p:cNvCxnSpPr>
            <a:cxnSpLocks/>
          </p:cNvCxnSpPr>
          <p:nvPr/>
        </p:nvCxnSpPr>
        <p:spPr>
          <a:xfrm>
            <a:off x="6918458" y="2545023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AC6B064C-D8C7-DDD1-E846-67E429D741A5}"/>
              </a:ext>
            </a:extLst>
          </p:cNvPr>
          <p:cNvSpPr/>
          <p:nvPr/>
        </p:nvSpPr>
        <p:spPr>
          <a:xfrm>
            <a:off x="457200" y="180753"/>
            <a:ext cx="8463516" cy="657092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50D55932-C6C2-2067-89AD-A754CE890A0F}"/>
              </a:ext>
            </a:extLst>
          </p:cNvPr>
          <p:cNvSpPr/>
          <p:nvPr/>
        </p:nvSpPr>
        <p:spPr>
          <a:xfrm>
            <a:off x="2126513" y="6168406"/>
            <a:ext cx="5124890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CAJA NEGRA DEL SISTEMA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6B96616-F067-597D-4404-C5670FF29D0B}"/>
              </a:ext>
            </a:extLst>
          </p:cNvPr>
          <p:cNvSpPr/>
          <p:nvPr/>
        </p:nvSpPr>
        <p:spPr>
          <a:xfrm>
            <a:off x="7251403" y="6168383"/>
            <a:ext cx="1669312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3C3A7DDF-433E-3F50-1123-F90FAE351892}"/>
              </a:ext>
            </a:extLst>
          </p:cNvPr>
          <p:cNvSpPr/>
          <p:nvPr/>
        </p:nvSpPr>
        <p:spPr>
          <a:xfrm>
            <a:off x="457201" y="6168406"/>
            <a:ext cx="1669312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5AF418-2D2A-78D1-5B1F-6FB2395E2331}"/>
              </a:ext>
            </a:extLst>
          </p:cNvPr>
          <p:cNvSpPr txBox="1"/>
          <p:nvPr/>
        </p:nvSpPr>
        <p:spPr>
          <a:xfrm>
            <a:off x="457199" y="1759489"/>
            <a:ext cx="2193445" cy="23391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Personas (con o sin movilidad reducida)</a:t>
            </a:r>
          </a:p>
          <a:p>
            <a:endParaRPr lang="es-MX" sz="16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Señales de control (botones, llamadas desde piso)</a:t>
            </a:r>
          </a:p>
          <a:p>
            <a:endParaRPr lang="es-MX" sz="16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Energía eléctrica</a:t>
            </a:r>
            <a:endParaRPr lang="es-CO" sz="16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endParaRPr lang="es-CO" dirty="0">
              <a:latin typeface="HelveticaNeueLT Std Blk Cn" panose="020B0906030702040204" pitchFamily="34" charset="0"/>
            </a:endParaRP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C056D962-8F09-DA4D-EDB1-7126E0787C08}"/>
              </a:ext>
            </a:extLst>
          </p:cNvPr>
          <p:cNvSpPr txBox="1"/>
          <p:nvPr/>
        </p:nvSpPr>
        <p:spPr>
          <a:xfrm>
            <a:off x="6393917" y="1813333"/>
            <a:ext cx="25267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Personas ubicadas en el piso destino</a:t>
            </a:r>
          </a:p>
          <a:p>
            <a:endParaRPr lang="es-MX" sz="16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Confirmación visual/sonora de operación</a:t>
            </a:r>
          </a:p>
          <a:p>
            <a:endParaRPr lang="es-MX" sz="16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Información de estado (posición, puertas abiertas, emergencia)</a:t>
            </a:r>
            <a:endParaRPr lang="es-CO" sz="1600" dirty="0">
              <a:latin typeface="Comic Sans MS" panose="030F0702030302020204" pitchFamily="66" charset="0"/>
            </a:endParaRPr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022B89F-C4ED-2262-42C4-F092E2637E28}"/>
              </a:ext>
            </a:extLst>
          </p:cNvPr>
          <p:cNvCxnSpPr>
            <a:cxnSpLocks/>
          </p:cNvCxnSpPr>
          <p:nvPr/>
        </p:nvCxnSpPr>
        <p:spPr>
          <a:xfrm>
            <a:off x="1197937" y="2322496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ector recto de flecha 4">
            <a:extLst>
              <a:ext uri="{FF2B5EF4-FFF2-40B4-BE49-F238E27FC236}">
                <a16:creationId xmlns:a16="http://schemas.microsoft.com/office/drawing/2014/main" id="{9A3D91D4-1717-0B76-E0E3-D3AB853F71CD}"/>
              </a:ext>
            </a:extLst>
          </p:cNvPr>
          <p:cNvCxnSpPr>
            <a:cxnSpLocks/>
          </p:cNvCxnSpPr>
          <p:nvPr/>
        </p:nvCxnSpPr>
        <p:spPr>
          <a:xfrm>
            <a:off x="1176876" y="3930853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1E13B75C-543A-C875-2C2D-A3D8BFF383C7}"/>
              </a:ext>
            </a:extLst>
          </p:cNvPr>
          <p:cNvCxnSpPr>
            <a:cxnSpLocks/>
          </p:cNvCxnSpPr>
          <p:nvPr/>
        </p:nvCxnSpPr>
        <p:spPr>
          <a:xfrm>
            <a:off x="6918458" y="3429350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ector recto de flecha 7">
            <a:extLst>
              <a:ext uri="{FF2B5EF4-FFF2-40B4-BE49-F238E27FC236}">
                <a16:creationId xmlns:a16="http://schemas.microsoft.com/office/drawing/2014/main" id="{CFAEBF26-704D-5305-CEC5-108575B19468}"/>
              </a:ext>
            </a:extLst>
          </p:cNvPr>
          <p:cNvCxnSpPr>
            <a:cxnSpLocks/>
          </p:cNvCxnSpPr>
          <p:nvPr/>
        </p:nvCxnSpPr>
        <p:spPr>
          <a:xfrm>
            <a:off x="6915252" y="4429813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23149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E2642C-FACC-D66E-0DDB-86682E2C4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65E6CADE-C230-EC73-D42F-2DF760A299E9}"/>
              </a:ext>
            </a:extLst>
          </p:cNvPr>
          <p:cNvSpPr/>
          <p:nvPr/>
        </p:nvSpPr>
        <p:spPr>
          <a:xfrm>
            <a:off x="1692852" y="1158191"/>
            <a:ext cx="1977403" cy="9783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Suministrar la energía requerida para el funcionamiento integral del sistema</a:t>
            </a:r>
            <a:endParaRPr lang="es-CO" sz="1400" dirty="0"/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3A89B52A-0951-E323-5519-ACFCA0EDD01C}"/>
              </a:ext>
            </a:extLst>
          </p:cNvPr>
          <p:cNvCxnSpPr>
            <a:cxnSpLocks/>
          </p:cNvCxnSpPr>
          <p:nvPr/>
        </p:nvCxnSpPr>
        <p:spPr>
          <a:xfrm>
            <a:off x="751422" y="1689366"/>
            <a:ext cx="93625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0934111D-DCCD-10AE-E4E4-3BA4E54E23CE}"/>
              </a:ext>
            </a:extLst>
          </p:cNvPr>
          <p:cNvCxnSpPr>
            <a:cxnSpLocks/>
            <a:stCxn id="53" idx="3"/>
          </p:cNvCxnSpPr>
          <p:nvPr/>
        </p:nvCxnSpPr>
        <p:spPr>
          <a:xfrm flipV="1">
            <a:off x="5366353" y="4728781"/>
            <a:ext cx="2271954" cy="606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ángulo 16">
            <a:extLst>
              <a:ext uri="{FF2B5EF4-FFF2-40B4-BE49-F238E27FC236}">
                <a16:creationId xmlns:a16="http://schemas.microsoft.com/office/drawing/2014/main" id="{4409C421-D47F-EB84-30B7-AA7C6E02194B}"/>
              </a:ext>
            </a:extLst>
          </p:cNvPr>
          <p:cNvSpPr/>
          <p:nvPr/>
        </p:nvSpPr>
        <p:spPr>
          <a:xfrm>
            <a:off x="37823" y="106327"/>
            <a:ext cx="9068354" cy="664534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393466D5-D38E-EA62-87F1-930E1C2298EC}"/>
              </a:ext>
            </a:extLst>
          </p:cNvPr>
          <p:cNvSpPr/>
          <p:nvPr/>
        </p:nvSpPr>
        <p:spPr>
          <a:xfrm>
            <a:off x="2126513" y="6168406"/>
            <a:ext cx="5124890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CAJA TRANSPARENTE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D1141CCE-88C2-2052-E88D-9EDA8169A3B4}"/>
              </a:ext>
            </a:extLst>
          </p:cNvPr>
          <p:cNvSpPr/>
          <p:nvPr/>
        </p:nvSpPr>
        <p:spPr>
          <a:xfrm>
            <a:off x="7251403" y="6168383"/>
            <a:ext cx="1669312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929BFEC0-4E1F-CECC-2985-F616D00EECF6}"/>
              </a:ext>
            </a:extLst>
          </p:cNvPr>
          <p:cNvSpPr/>
          <p:nvPr/>
        </p:nvSpPr>
        <p:spPr>
          <a:xfrm>
            <a:off x="457201" y="6168406"/>
            <a:ext cx="1669312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80975"/>
            <a:endParaRPr lang="es-CO" b="1" dirty="0"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A55F5668-B71C-3082-DE66-B369D7EA322A}"/>
              </a:ext>
            </a:extLst>
          </p:cNvPr>
          <p:cNvSpPr/>
          <p:nvPr/>
        </p:nvSpPr>
        <p:spPr>
          <a:xfrm>
            <a:off x="5022307" y="1780366"/>
            <a:ext cx="1848157" cy="116088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 </a:t>
            </a:r>
            <a:r>
              <a:rPr lang="es-MX" sz="1400" dirty="0"/>
              <a:t>Elevar y descender la cabina de forma controlada y segura</a:t>
            </a:r>
            <a:endParaRPr lang="es-CO" sz="1400" dirty="0"/>
          </a:p>
        </p:txBody>
      </p:sp>
      <p:cxnSp>
        <p:nvCxnSpPr>
          <p:cNvPr id="11" name="Conector: angular 10">
            <a:extLst>
              <a:ext uri="{FF2B5EF4-FFF2-40B4-BE49-F238E27FC236}">
                <a16:creationId xmlns:a16="http://schemas.microsoft.com/office/drawing/2014/main" id="{4ADF110C-D99D-4B74-A628-F7CE9439D6C4}"/>
              </a:ext>
            </a:extLst>
          </p:cNvPr>
          <p:cNvCxnSpPr>
            <a:cxnSpLocks/>
            <a:stCxn id="2" idx="3"/>
          </p:cNvCxnSpPr>
          <p:nvPr/>
        </p:nvCxnSpPr>
        <p:spPr>
          <a:xfrm>
            <a:off x="3670255" y="1647382"/>
            <a:ext cx="1321373" cy="489191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ángulo: esquinas redondeadas 22">
            <a:extLst>
              <a:ext uri="{FF2B5EF4-FFF2-40B4-BE49-F238E27FC236}">
                <a16:creationId xmlns:a16="http://schemas.microsoft.com/office/drawing/2014/main" id="{8F27A0B0-CD5F-5093-19D8-E1B231E79769}"/>
              </a:ext>
            </a:extLst>
          </p:cNvPr>
          <p:cNvSpPr/>
          <p:nvPr/>
        </p:nvSpPr>
        <p:spPr>
          <a:xfrm>
            <a:off x="1973743" y="2941248"/>
            <a:ext cx="2434017" cy="890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Gestionar las órdenes de llamada para coordinar la operación del sistema</a:t>
            </a:r>
            <a:endParaRPr lang="es-CO" sz="1400" dirty="0"/>
          </a:p>
        </p:txBody>
      </p:sp>
      <p:cxnSp>
        <p:nvCxnSpPr>
          <p:cNvPr id="39" name="Conector: angular 38">
            <a:extLst>
              <a:ext uri="{FF2B5EF4-FFF2-40B4-BE49-F238E27FC236}">
                <a16:creationId xmlns:a16="http://schemas.microsoft.com/office/drawing/2014/main" id="{DCD4AF6A-CEE3-4ED0-C99A-837C9F7AF1E1}"/>
              </a:ext>
            </a:extLst>
          </p:cNvPr>
          <p:cNvCxnSpPr>
            <a:cxnSpLocks/>
            <a:stCxn id="19" idx="3"/>
            <a:endCxn id="53" idx="1"/>
          </p:cNvCxnSpPr>
          <p:nvPr/>
        </p:nvCxnSpPr>
        <p:spPr>
          <a:xfrm flipH="1">
            <a:off x="2491472" y="2360807"/>
            <a:ext cx="4378992" cy="2374034"/>
          </a:xfrm>
          <a:prstGeom prst="bentConnector5">
            <a:avLst>
              <a:gd name="adj1" fmla="val -5220"/>
              <a:gd name="adj2" fmla="val 68155"/>
              <a:gd name="adj3" fmla="val 10522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CuadroTexto 27">
            <a:extLst>
              <a:ext uri="{FF2B5EF4-FFF2-40B4-BE49-F238E27FC236}">
                <a16:creationId xmlns:a16="http://schemas.microsoft.com/office/drawing/2014/main" id="{49379854-687D-4E8B-89CA-1D09A8A23D8B}"/>
              </a:ext>
            </a:extLst>
          </p:cNvPr>
          <p:cNvSpPr txBox="1"/>
          <p:nvPr/>
        </p:nvSpPr>
        <p:spPr>
          <a:xfrm>
            <a:off x="237845" y="1185717"/>
            <a:ext cx="15842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200" dirty="0">
                <a:latin typeface="Comic Sans MS" panose="030F0702030302020204" pitchFamily="66" charset="0"/>
              </a:rPr>
              <a:t>Energía</a:t>
            </a:r>
          </a:p>
          <a:p>
            <a:r>
              <a:rPr lang="es-CO" sz="1200" dirty="0">
                <a:latin typeface="Comic Sans MS" panose="030F0702030302020204" pitchFamily="66" charset="0"/>
              </a:rPr>
              <a:t> Eléctrica </a:t>
            </a:r>
          </a:p>
        </p:txBody>
      </p:sp>
      <p:sp>
        <p:nvSpPr>
          <p:cNvPr id="53" name="Rectángulo: esquinas redondeadas 52">
            <a:extLst>
              <a:ext uri="{FF2B5EF4-FFF2-40B4-BE49-F238E27FC236}">
                <a16:creationId xmlns:a16="http://schemas.microsoft.com/office/drawing/2014/main" id="{75787BB4-455B-DEA6-DA7D-F88377984764}"/>
              </a:ext>
            </a:extLst>
          </p:cNvPr>
          <p:cNvSpPr/>
          <p:nvPr/>
        </p:nvSpPr>
        <p:spPr>
          <a:xfrm>
            <a:off x="2491472" y="4289582"/>
            <a:ext cx="2874881" cy="89051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400" dirty="0"/>
              <a:t>Supervisar condiciones críticas y activar mecanismos de protección</a:t>
            </a:r>
            <a:endParaRPr lang="es-CO" sz="1400" dirty="0"/>
          </a:p>
        </p:txBody>
      </p:sp>
      <p:cxnSp>
        <p:nvCxnSpPr>
          <p:cNvPr id="64" name="Conector: angular 63">
            <a:extLst>
              <a:ext uri="{FF2B5EF4-FFF2-40B4-BE49-F238E27FC236}">
                <a16:creationId xmlns:a16="http://schemas.microsoft.com/office/drawing/2014/main" id="{91CF4F53-85E9-6149-2AB1-250A10C274B9}"/>
              </a:ext>
            </a:extLst>
          </p:cNvPr>
          <p:cNvCxnSpPr>
            <a:cxnSpLocks/>
            <a:stCxn id="23" idx="3"/>
            <a:endCxn id="19" idx="1"/>
          </p:cNvCxnSpPr>
          <p:nvPr/>
        </p:nvCxnSpPr>
        <p:spPr>
          <a:xfrm flipV="1">
            <a:off x="4407760" y="2360807"/>
            <a:ext cx="614547" cy="1025700"/>
          </a:xfrm>
          <a:prstGeom prst="bentConnector3">
            <a:avLst>
              <a:gd name="adj1" fmla="val 50000"/>
            </a:avLst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CuadroTexto 67">
            <a:extLst>
              <a:ext uri="{FF2B5EF4-FFF2-40B4-BE49-F238E27FC236}">
                <a16:creationId xmlns:a16="http://schemas.microsoft.com/office/drawing/2014/main" id="{1E89A10F-38CC-9AED-A987-C30AB1921169}"/>
              </a:ext>
            </a:extLst>
          </p:cNvPr>
          <p:cNvSpPr txBox="1"/>
          <p:nvPr/>
        </p:nvSpPr>
        <p:spPr>
          <a:xfrm>
            <a:off x="0" y="3063341"/>
            <a:ext cx="13893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200" dirty="0">
                <a:latin typeface="Comic Sans MS" panose="030F0702030302020204" pitchFamily="66" charset="0"/>
              </a:rPr>
              <a:t>Señales de control (botones, llamadas </a:t>
            </a:r>
            <a:endParaRPr lang="es-CO" sz="1200" dirty="0">
              <a:latin typeface="Comic Sans MS" panose="030F0702030302020204" pitchFamily="66" charset="0"/>
            </a:endParaRPr>
          </a:p>
        </p:txBody>
      </p:sp>
      <p:sp>
        <p:nvSpPr>
          <p:cNvPr id="84" name="CuadroTexto 83">
            <a:extLst>
              <a:ext uri="{FF2B5EF4-FFF2-40B4-BE49-F238E27FC236}">
                <a16:creationId xmlns:a16="http://schemas.microsoft.com/office/drawing/2014/main" id="{375757E5-D0CF-E52F-7426-9A2EF90AED1B}"/>
              </a:ext>
            </a:extLst>
          </p:cNvPr>
          <p:cNvSpPr txBox="1"/>
          <p:nvPr/>
        </p:nvSpPr>
        <p:spPr>
          <a:xfrm>
            <a:off x="7474972" y="3289176"/>
            <a:ext cx="153252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200" dirty="0">
                <a:latin typeface="Comic Sans MS" panose="030F0702030302020204" pitchFamily="66" charset="0"/>
              </a:rPr>
              <a:t>Personas ubicadas en el piso destino</a:t>
            </a:r>
          </a:p>
          <a:p>
            <a:endParaRPr lang="es-MX" sz="12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200" dirty="0">
                <a:latin typeface="Comic Sans MS" panose="030F0702030302020204" pitchFamily="66" charset="0"/>
              </a:rPr>
              <a:t>Confirmación visual/sonora de operación</a:t>
            </a:r>
          </a:p>
          <a:p>
            <a:endParaRPr lang="es-MX" sz="12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200" dirty="0">
                <a:latin typeface="Comic Sans MS" panose="030F0702030302020204" pitchFamily="66" charset="0"/>
              </a:rPr>
              <a:t>Información de estado (posición, puertas abiertas, emergencia)</a:t>
            </a:r>
            <a:endParaRPr lang="es-CO" sz="1200" dirty="0">
              <a:latin typeface="Comic Sans MS" panose="030F0702030302020204" pitchFamily="66" charset="0"/>
            </a:endParaRPr>
          </a:p>
        </p:txBody>
      </p:sp>
      <p:sp>
        <p:nvSpPr>
          <p:cNvPr id="88" name="Rectángulo: esquinas redondeadas 87">
            <a:extLst>
              <a:ext uri="{FF2B5EF4-FFF2-40B4-BE49-F238E27FC236}">
                <a16:creationId xmlns:a16="http://schemas.microsoft.com/office/drawing/2014/main" id="{48762634-3F81-2420-679C-33E88B80640F}"/>
              </a:ext>
            </a:extLst>
          </p:cNvPr>
          <p:cNvSpPr/>
          <p:nvPr/>
        </p:nvSpPr>
        <p:spPr>
          <a:xfrm>
            <a:off x="1359196" y="444611"/>
            <a:ext cx="5892207" cy="5268623"/>
          </a:xfrm>
          <a:prstGeom prst="roundRect">
            <a:avLst/>
          </a:prstGeom>
          <a:noFill/>
          <a:ln w="57150">
            <a:prstDash val="lgDash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cxnSp>
        <p:nvCxnSpPr>
          <p:cNvPr id="96" name="Conector recto de flecha 95">
            <a:extLst>
              <a:ext uri="{FF2B5EF4-FFF2-40B4-BE49-F238E27FC236}">
                <a16:creationId xmlns:a16="http://schemas.microsoft.com/office/drawing/2014/main" id="{420A897B-6031-73F3-455D-E9469F18F69B}"/>
              </a:ext>
            </a:extLst>
          </p:cNvPr>
          <p:cNvCxnSpPr>
            <a:cxnSpLocks/>
            <a:stCxn id="68" idx="3"/>
            <a:endCxn id="23" idx="1"/>
          </p:cNvCxnSpPr>
          <p:nvPr/>
        </p:nvCxnSpPr>
        <p:spPr>
          <a:xfrm>
            <a:off x="1389321" y="3386507"/>
            <a:ext cx="58442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3154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042F87C1-5321-4D8F-AD8B-CB8B9DA67F99}"/>
              </a:ext>
            </a:extLst>
          </p:cNvPr>
          <p:cNvSpPr/>
          <p:nvPr/>
        </p:nvSpPr>
        <p:spPr>
          <a:xfrm>
            <a:off x="2488020" y="1680679"/>
            <a:ext cx="3987209" cy="217967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dirty="0"/>
              <a:t>Transportar de forma segura, accesible y vertical a personas (incluyendo personas con discapacidad) entre el piso 2 y el piso 4 del edificio de la Facultad de Ingeniería de la Universidad del Quindío</a:t>
            </a:r>
            <a:endParaRPr lang="es-CO" dirty="0"/>
          </a:p>
        </p:txBody>
      </p:sp>
      <p:cxnSp>
        <p:nvCxnSpPr>
          <p:cNvPr id="4" name="Conector recto de flecha 3">
            <a:extLst>
              <a:ext uri="{FF2B5EF4-FFF2-40B4-BE49-F238E27FC236}">
                <a16:creationId xmlns:a16="http://schemas.microsoft.com/office/drawing/2014/main" id="{44801655-33CB-41F6-AC41-95D1A772AFF0}"/>
              </a:ext>
            </a:extLst>
          </p:cNvPr>
          <p:cNvCxnSpPr>
            <a:cxnSpLocks/>
          </p:cNvCxnSpPr>
          <p:nvPr/>
        </p:nvCxnSpPr>
        <p:spPr>
          <a:xfrm>
            <a:off x="4572000" y="1254369"/>
            <a:ext cx="0" cy="42630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08056458-7830-424F-BD1F-11EEB367C775}"/>
              </a:ext>
            </a:extLst>
          </p:cNvPr>
          <p:cNvSpPr txBox="1"/>
          <p:nvPr/>
        </p:nvSpPr>
        <p:spPr>
          <a:xfrm>
            <a:off x="3936133" y="913619"/>
            <a:ext cx="1271734" cy="338554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Comic Sans MS" panose="030F0702030302020204" pitchFamily="66" charset="0"/>
              </a:rPr>
              <a:t>RF Y RNF</a:t>
            </a:r>
          </a:p>
        </p:txBody>
      </p:sp>
      <p:cxnSp>
        <p:nvCxnSpPr>
          <p:cNvPr id="6" name="Conector recto de flecha 5">
            <a:extLst>
              <a:ext uri="{FF2B5EF4-FFF2-40B4-BE49-F238E27FC236}">
                <a16:creationId xmlns:a16="http://schemas.microsoft.com/office/drawing/2014/main" id="{4C170494-D88D-4C9F-B6D7-920F629A03A5}"/>
              </a:ext>
            </a:extLst>
          </p:cNvPr>
          <p:cNvCxnSpPr>
            <a:cxnSpLocks/>
          </p:cNvCxnSpPr>
          <p:nvPr/>
        </p:nvCxnSpPr>
        <p:spPr>
          <a:xfrm>
            <a:off x="1291857" y="2054164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uadroTexto 7">
            <a:extLst>
              <a:ext uri="{FF2B5EF4-FFF2-40B4-BE49-F238E27FC236}">
                <a16:creationId xmlns:a16="http://schemas.microsoft.com/office/drawing/2014/main" id="{61039056-680C-45AD-9BDA-C6E83D6FC4CD}"/>
              </a:ext>
            </a:extLst>
          </p:cNvPr>
          <p:cNvSpPr txBox="1"/>
          <p:nvPr/>
        </p:nvSpPr>
        <p:spPr>
          <a:xfrm>
            <a:off x="442681" y="1467057"/>
            <a:ext cx="2115883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Personas (con o sin movilidad reducida)</a:t>
            </a:r>
          </a:p>
          <a:p>
            <a:endParaRPr lang="es-MX" sz="16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Señales de control (botones, llamadas desde piso)</a:t>
            </a:r>
          </a:p>
          <a:p>
            <a:endParaRPr lang="es-MX" sz="16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Energía eléctrica</a:t>
            </a:r>
            <a:endParaRPr lang="es-CO" sz="1600" dirty="0">
              <a:latin typeface="Comic Sans MS" panose="030F0702030302020204" pitchFamily="66" charset="0"/>
            </a:endParaRPr>
          </a:p>
        </p:txBody>
      </p:sp>
      <p:cxnSp>
        <p:nvCxnSpPr>
          <p:cNvPr id="9" name="Conector recto de flecha 8">
            <a:extLst>
              <a:ext uri="{FF2B5EF4-FFF2-40B4-BE49-F238E27FC236}">
                <a16:creationId xmlns:a16="http://schemas.microsoft.com/office/drawing/2014/main" id="{93BF954C-DBC2-4481-ADF5-1FE3DE873A84}"/>
              </a:ext>
            </a:extLst>
          </p:cNvPr>
          <p:cNvCxnSpPr>
            <a:cxnSpLocks/>
          </p:cNvCxnSpPr>
          <p:nvPr/>
        </p:nvCxnSpPr>
        <p:spPr>
          <a:xfrm flipV="1">
            <a:off x="4572000" y="3860353"/>
            <a:ext cx="0" cy="359955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775C81EA-440E-486B-98A1-BB139A74E111}"/>
              </a:ext>
            </a:extLst>
          </p:cNvPr>
          <p:cNvSpPr txBox="1"/>
          <p:nvPr/>
        </p:nvSpPr>
        <p:spPr>
          <a:xfrm>
            <a:off x="3102187" y="4256538"/>
            <a:ext cx="2939625" cy="830997"/>
          </a:xfrm>
          <a:prstGeom prst="rect">
            <a:avLst/>
          </a:prstGeom>
          <a:noFill/>
          <a:ln w="19050">
            <a:solidFill>
              <a:schemeClr val="accent1">
                <a:lumMod val="60000"/>
                <a:lumOff val="40000"/>
              </a:schemeClr>
            </a:solidFill>
            <a:prstDash val="dash"/>
          </a:ln>
        </p:spPr>
        <p:txBody>
          <a:bodyPr wrap="square" rtlCol="0">
            <a:spAutoFit/>
          </a:bodyPr>
          <a:lstStyle/>
          <a:p>
            <a:r>
              <a:rPr lang="es-CO" sz="1600" dirty="0">
                <a:latin typeface="Comic Sans MS" panose="030F0702030302020204" pitchFamily="66" charset="0"/>
              </a:rPr>
              <a:t>HERRAMIENTAS PARA LA FABRICACIÓN DEL PROTOTIPO</a:t>
            </a:r>
          </a:p>
        </p:txBody>
      </p: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ED182EB0-8E41-49E6-AA63-3682F57AAEB2}"/>
              </a:ext>
            </a:extLst>
          </p:cNvPr>
          <p:cNvCxnSpPr>
            <a:cxnSpLocks/>
          </p:cNvCxnSpPr>
          <p:nvPr/>
        </p:nvCxnSpPr>
        <p:spPr>
          <a:xfrm>
            <a:off x="7067244" y="2091959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52750B7-119A-48AA-80E9-C97AF631C3E9}"/>
              </a:ext>
            </a:extLst>
          </p:cNvPr>
          <p:cNvSpPr txBox="1"/>
          <p:nvPr/>
        </p:nvSpPr>
        <p:spPr>
          <a:xfrm>
            <a:off x="6459905" y="1429250"/>
            <a:ext cx="2553712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Personas ubicadas en el piso destino</a:t>
            </a:r>
          </a:p>
          <a:p>
            <a:endParaRPr lang="es-MX" sz="16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Confirmación visual/sonora de operación</a:t>
            </a:r>
          </a:p>
          <a:p>
            <a:endParaRPr lang="es-MX" sz="1600" dirty="0">
              <a:latin typeface="Comic Sans MS" panose="030F0702030302020204" pitchFamily="66" charset="0"/>
            </a:endParaRPr>
          </a:p>
          <a:p>
            <a:pPr marL="84138" indent="-84138">
              <a:buFont typeface="Wingdings" panose="05000000000000000000" pitchFamily="2" charset="2"/>
              <a:buChar char="ü"/>
            </a:pPr>
            <a:r>
              <a:rPr lang="es-MX" sz="1600" dirty="0">
                <a:latin typeface="Comic Sans MS" panose="030F0702030302020204" pitchFamily="66" charset="0"/>
              </a:rPr>
              <a:t>Información de estado (posición, puertas abiertas, emergencia)</a:t>
            </a:r>
            <a:endParaRPr lang="es-CO" sz="1600" dirty="0">
              <a:latin typeface="Comic Sans MS" panose="030F0702030302020204" pitchFamily="66" charset="0"/>
            </a:endParaRP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401BC0A9-A5E5-49D9-9435-481E4B2A8CFE}"/>
              </a:ext>
            </a:extLst>
          </p:cNvPr>
          <p:cNvSpPr txBox="1"/>
          <p:nvPr/>
        </p:nvSpPr>
        <p:spPr>
          <a:xfrm>
            <a:off x="1398178" y="5483721"/>
            <a:ext cx="668788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CO" sz="1600" b="1" i="1" dirty="0">
                <a:latin typeface="Comic Sans MS" panose="030F0702030302020204" pitchFamily="66" charset="0"/>
              </a:rPr>
              <a:t>PROPOSITO: </a:t>
            </a:r>
            <a:r>
              <a:rPr lang="es-CO" sz="1600" dirty="0">
                <a:latin typeface="Comic Sans MS" panose="030F0702030302020204" pitchFamily="66" charset="0"/>
              </a:rPr>
              <a:t>ESPECIFICAR LAS ETAPAS DE DISEÑO PARA UN ASECENSOR PAR LA FCULTAD DE INGENEIRIA UQ</a:t>
            </a: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FCE9F90C-E4D8-4450-BCCD-B8E9F67FD0CB}"/>
              </a:ext>
            </a:extLst>
          </p:cNvPr>
          <p:cNvSpPr/>
          <p:nvPr/>
        </p:nvSpPr>
        <p:spPr>
          <a:xfrm>
            <a:off x="457200" y="180753"/>
            <a:ext cx="8463516" cy="657092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A7B96FF1-C283-4248-9FEE-F80CB28D0EBA}"/>
              </a:ext>
            </a:extLst>
          </p:cNvPr>
          <p:cNvSpPr/>
          <p:nvPr/>
        </p:nvSpPr>
        <p:spPr>
          <a:xfrm>
            <a:off x="2126513" y="6168406"/>
            <a:ext cx="5124890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ASCENSOR PARA LA FACULTAD DE INGENIERIA UQ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54966FB0-F4AD-4BB6-B007-0CB368CC1937}"/>
              </a:ext>
            </a:extLst>
          </p:cNvPr>
          <p:cNvSpPr/>
          <p:nvPr/>
        </p:nvSpPr>
        <p:spPr>
          <a:xfrm>
            <a:off x="7251403" y="6168383"/>
            <a:ext cx="1669312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A6E13BA-B71B-4E80-9E4D-4DCFD26B26F1}"/>
              </a:ext>
            </a:extLst>
          </p:cNvPr>
          <p:cNvSpPr/>
          <p:nvPr/>
        </p:nvSpPr>
        <p:spPr>
          <a:xfrm>
            <a:off x="457201" y="6168406"/>
            <a:ext cx="1669312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A-0</a:t>
            </a:r>
          </a:p>
        </p:txBody>
      </p:sp>
      <p:cxnSp>
        <p:nvCxnSpPr>
          <p:cNvPr id="7" name="Conector recto de flecha 6">
            <a:extLst>
              <a:ext uri="{FF2B5EF4-FFF2-40B4-BE49-F238E27FC236}">
                <a16:creationId xmlns:a16="http://schemas.microsoft.com/office/drawing/2014/main" id="{324C408C-95F9-098B-0373-142BDDB72958}"/>
              </a:ext>
            </a:extLst>
          </p:cNvPr>
          <p:cNvCxnSpPr>
            <a:cxnSpLocks/>
          </p:cNvCxnSpPr>
          <p:nvPr/>
        </p:nvCxnSpPr>
        <p:spPr>
          <a:xfrm>
            <a:off x="7067244" y="3023178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5B53F480-0F8B-8684-4AFD-06BAA641D4E7}"/>
              </a:ext>
            </a:extLst>
          </p:cNvPr>
          <p:cNvCxnSpPr>
            <a:cxnSpLocks/>
          </p:cNvCxnSpPr>
          <p:nvPr/>
        </p:nvCxnSpPr>
        <p:spPr>
          <a:xfrm>
            <a:off x="1291857" y="3023178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BD3943F9-683D-5277-211F-0A02B033E924}"/>
              </a:ext>
            </a:extLst>
          </p:cNvPr>
          <p:cNvCxnSpPr>
            <a:cxnSpLocks/>
          </p:cNvCxnSpPr>
          <p:nvPr/>
        </p:nvCxnSpPr>
        <p:spPr>
          <a:xfrm>
            <a:off x="1258188" y="3529160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7B7598A0-BC06-55E8-E3F1-92D658CBD41E}"/>
              </a:ext>
            </a:extLst>
          </p:cNvPr>
          <p:cNvCxnSpPr>
            <a:cxnSpLocks/>
          </p:cNvCxnSpPr>
          <p:nvPr/>
        </p:nvCxnSpPr>
        <p:spPr>
          <a:xfrm>
            <a:off x="7067244" y="4056801"/>
            <a:ext cx="122983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181355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3DDC7-5A7E-DAAF-06C5-5B5F105C75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B70D2953-565E-EE93-C31E-3708926C9E67}"/>
              </a:ext>
            </a:extLst>
          </p:cNvPr>
          <p:cNvSpPr txBox="1"/>
          <p:nvPr/>
        </p:nvSpPr>
        <p:spPr>
          <a:xfrm>
            <a:off x="516193" y="179572"/>
            <a:ext cx="8404522" cy="60724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Cuál es la capacidad máxima de personas en un ascensor?</a:t>
            </a: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normativa actual establece que la carga máxima que puede soportar un ascensor es el 80% de su capacidad nominal.</a:t>
            </a: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Esto significa que en ascensores con capacidad nominal de 800 kg (equivalente a 8 personas), la carga máxima (según la normativa) sería de 640 kg (equivalente a 6,4 personas). </a:t>
            </a: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b="1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¿Cuál es la capacidad mínima de personas en un ascensor?</a:t>
            </a: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kern="100" dirty="0"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La capacidad de carga mínima en un ascensor varía según su uso, siendo común una capacidad de 100 kg para una persona (viviendas unifamiliares) y de 180 kg a 225 kg para dos personas (viviendas reducidas).</a:t>
            </a: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ES_tradnl" sz="1400" b="1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Investigar la ley de ascensores:</a:t>
            </a: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kern="1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 Colombia mucha gente da por sentado que, a partir de cierto número de pisos, el ascensor es obligatorio. Pero cuando se revisa la normativa nacional, el panorama es distinto: lo que exige la ley, en realidad, es que las edificaciones sean accesibles y que no pongan barreras a las personas con movilidad reducida (como lo establece la Ley 361 de 1997 y su reglamentación).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CO" sz="1400" kern="1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2"/>
              </a:rPr>
              <a:t>https://dictator.es/noticias-elevacion/capacidad-de-carga-de-un-ascensor-para-vivienda-unifamiliar-cual-debe-ser</a:t>
            </a: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3"/>
              </a:rPr>
              <a:t>https://www.decoascensor.com/cual-es-la-capacidad-maxima-de-personas-en-un-ascensor/</a:t>
            </a: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s-CO" sz="1400" u="sng" kern="100" dirty="0">
                <a:solidFill>
                  <a:srgbClr val="0563C1"/>
                </a:solidFill>
                <a:effectLst/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  <a:hlinkClick r:id="rId4"/>
              </a:rPr>
              <a:t>https://www.elespectador.com/economia/finanzas-personales/cuando-es-obligatorio-tener-ascensor-en-un-edificio-para-vivienda-noticias-colombia/</a:t>
            </a: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endParaRPr lang="es-CO" sz="1400" kern="100" dirty="0"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just"/>
            <a:endParaRPr lang="es-CO" sz="2400" dirty="0">
              <a:latin typeface="HelveticaNeueLT Std Blk Cn" panose="020B0906030702040204" pitchFamily="34" charset="0"/>
            </a:endParaRPr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2683484-FF69-5209-1B6D-E2C41ABCA9F4}"/>
              </a:ext>
            </a:extLst>
          </p:cNvPr>
          <p:cNvSpPr/>
          <p:nvPr/>
        </p:nvSpPr>
        <p:spPr>
          <a:xfrm>
            <a:off x="457200" y="180753"/>
            <a:ext cx="8463516" cy="6570921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18" name="Rectángulo 17">
            <a:extLst>
              <a:ext uri="{FF2B5EF4-FFF2-40B4-BE49-F238E27FC236}">
                <a16:creationId xmlns:a16="http://schemas.microsoft.com/office/drawing/2014/main" id="{DE3EF654-E93E-AA86-3FB9-81820F797E4C}"/>
              </a:ext>
            </a:extLst>
          </p:cNvPr>
          <p:cNvSpPr/>
          <p:nvPr/>
        </p:nvSpPr>
        <p:spPr>
          <a:xfrm>
            <a:off x="2126513" y="6168406"/>
            <a:ext cx="5124890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INVESTIGACIONES PARA EL ASCENSOR </a:t>
            </a:r>
          </a:p>
        </p:txBody>
      </p:sp>
      <p:sp>
        <p:nvSpPr>
          <p:cNvPr id="22" name="Rectángulo 21">
            <a:extLst>
              <a:ext uri="{FF2B5EF4-FFF2-40B4-BE49-F238E27FC236}">
                <a16:creationId xmlns:a16="http://schemas.microsoft.com/office/drawing/2014/main" id="{AA14BA39-5C64-209E-0CFA-66927BE39EBE}"/>
              </a:ext>
            </a:extLst>
          </p:cNvPr>
          <p:cNvSpPr/>
          <p:nvPr/>
        </p:nvSpPr>
        <p:spPr>
          <a:xfrm>
            <a:off x="7251403" y="6168383"/>
            <a:ext cx="1669312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O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2C1A509-C969-685E-A272-7C1B2688866A}"/>
              </a:ext>
            </a:extLst>
          </p:cNvPr>
          <p:cNvSpPr/>
          <p:nvPr/>
        </p:nvSpPr>
        <p:spPr>
          <a:xfrm>
            <a:off x="457201" y="6168406"/>
            <a:ext cx="1669312" cy="583267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CO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A-0</a:t>
            </a:r>
          </a:p>
        </p:txBody>
      </p:sp>
    </p:spTree>
    <p:extLst>
      <p:ext uri="{BB962C8B-B14F-4D97-AF65-F5344CB8AC3E}">
        <p14:creationId xmlns:p14="http://schemas.microsoft.com/office/powerpoint/2010/main" val="1238984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2013 - 2022">
  <a:themeElements>
    <a:clrScheme name="Office Them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 2013 - 2022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451</TotalTime>
  <Words>509</Words>
  <Application>Microsoft Office PowerPoint</Application>
  <PresentationFormat>Carta (216 x 279 mm)</PresentationFormat>
  <Paragraphs>54</Paragraphs>
  <Slides>4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12" baseType="lpstr">
      <vt:lpstr>Arial</vt:lpstr>
      <vt:lpstr>Calibri</vt:lpstr>
      <vt:lpstr>Calibri Light</vt:lpstr>
      <vt:lpstr>Comic Sans MS</vt:lpstr>
      <vt:lpstr>HelveticaNeueLT Std Blk Cn</vt:lpstr>
      <vt:lpstr>Times New Roman</vt:lpstr>
      <vt:lpstr>Wingdings</vt:lpstr>
      <vt:lpstr>Office Theme 2013 - 2022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ALDANA</dc:creator>
  <cp:lastModifiedBy>Gabriela Castro</cp:lastModifiedBy>
  <cp:revision>8</cp:revision>
  <dcterms:created xsi:type="dcterms:W3CDTF">2023-08-28T01:43:58Z</dcterms:created>
  <dcterms:modified xsi:type="dcterms:W3CDTF">2026-03-02T03:29:04Z</dcterms:modified>
</cp:coreProperties>
</file>